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Доброго дня! Представляю магістерську роботу про те, як цифрові технології допомагають подолати соціальну ізоляцію кризових груп у війні та як це можна системно впроваджувати в соціальній роботі.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 першої хвилини важливо показати ставки: війна розриває соціальні мережі. Для кризових груп це означає не лише самотність, а менший доступ до підтримки, інформації, послуг і відновлення. Далі — що саме ми можемо зробити інструментально.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розмежовую: соціальна ізоляція — вимірюваний дефіцит контактів і ресурсів; самотність — переживання. Це важливо: інтервенції можуть бути різні — від відновлення контактів до роботи з емоційним станом.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ті групи, де ізоляція швидко накопичується: переміщення, стигма, обмежена мобільність, травма, втрата соціальних ролей. Далі — роль соціальної роботи і чому цифрові канали стають критичними.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Підкреслюю: соціальна робота — про зв’язки та доступ. Якщо офлайн обмежений безпекою/логістикою/руйнуваннями, ми повинні забезпечити канал підтримки іншим способом — цифровим, але з етичними рамками.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Дає чітку рамку: цифрові інструменти не ‘про гаджети’, а про зв’язки. Горизонтальні зменшують самотність і дають підтримку, вертикальні — повертають доступ до послуг та прав.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Цей слайд знімає ‘атаки’ комісії: я визнаю ризики і одразу даю принцип управління — гібридність, цифрова грамотність, протоколи безпеки.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Коротко, чітко: які методи, скільки людей, які групи, яка шкала. Це додає наукової ваги й робить наступні цифри ‘легітимними’.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Озвучити ключовий сенс: високий рівень ізоляції + цифровий розрив. Але люди вже в мессенджерах і частково в е-сервісах — тобто є ‘точка входу’ для системного супроводу.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Тут я ‘продаю’ внесок: не просто перелік сервісів, а модель із компонентами, роллю соціального працівника та принципами. Підкреслюю етичність і гібридність.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фінальний удар. Озвучую: не просто ‘сподобалось’, а є вимірювані зрушення — тривожність, підтримка, контакти, участь у групах, задоволеність. Далі — якщо запитають, покажу запасні слайди з потребами та рекомендаціями.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Показую лише якщо питають ‘що саме людям потрібно’. Тут коротко і даними: інфо, психопідтримка, цифрова освіта, спільноти.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Якщо питають ‘що робити на рівні установи’ — даю конкретні кроки: роль куратора, хаби, безпека, навчання, супервізія.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" cy="512064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F7FF"/>
                </a:solidFill>
              </a:rPr>
              <a:t>Цифрові технології як інструмент подолання соціальної ізоляції</a:t>
            </a:r>
          </a:p>
          <a:p>
            <a:pPr>
              <a:spcBef>
                <a:spcPts val="1200"/>
              </a:spcBef>
            </a:pPr>
            <a:r>
              <a:rPr sz="2600">
                <a:solidFill>
                  <a:srgbClr val="C3CCDC"/>
                </a:solidFill>
              </a:rPr>
              <a:t>Роль у роботі з кризовими групами • магістерська кваліфікаційна робота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3CCDC"/>
                </a:solidFill>
              </a:defRPr>
            </a:pPr>
            <a:r>
              <a:t>Автор: Макаренко Ярослав Олександрович (СР(сп)-62)</a:t>
            </a:r>
          </a:p>
          <a:p>
            <a:pPr>
              <a:defRPr sz="1800">
                <a:solidFill>
                  <a:srgbClr val="C3CCDC"/>
                </a:solidFill>
              </a:defRPr>
            </a:pPr>
            <a:r>
              <a:t>Науковий керівник: д.пед.н., проф. Березан В. І.</a:t>
            </a:r>
          </a:p>
          <a:p>
            <a:pPr>
              <a:defRPr sz="1800">
                <a:solidFill>
                  <a:srgbClr val="C3CCDC"/>
                </a:solidFill>
              </a:defRPr>
            </a:pPr>
            <a:r>
              <a:t>Полтава —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ПНПУ імені В. Г. Короленка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7FF"/>
                </a:solidFill>
              </a:rPr>
              <a:t>Війна руйнує інфраструктуру. Але найнебезпечніше — руйнує зв’язки.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3CCDC"/>
                </a:solidFill>
              </a:defRPr>
            </a:pPr>
            <a:r>
              <a:t>Розрив соціальних контактів + обмеження доступу до послуг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Ізоляція підсилює тривогу/депресивність/ПТСР-симптоми та знижує соціальне функціонування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Ключове питання: як забезпечити підтримку без фізичної присутності?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Цифрові технології як міст підтримки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Поняття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Соціальна ізоляція ≠ просто самотність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394960" cy="2103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5740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ІЗОЛЯЦІЯ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Об’єктивний дефіцит контактів і доступу до ресурсів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94960" cy="2103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205740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САМОТНІСТЬ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Суб’єктивне переживання браку близькості/якості зв’язків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3CCDC"/>
                </a:solidFill>
              </a:defRPr>
            </a:pPr>
            <a:r>
              <a:t>У війні ізоляція стає масовою, системною і тривалою.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Ізоляція = менше підтримки, менше інформації, менше шансів на допомогу.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Розмежування понять (важливо для інтервенцій)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Кризові групи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Кого ізоляція вражає найсильніше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789920" cy="4389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3CCDC"/>
                </a:solidFill>
              </a:defRPr>
            </a:pPr>
            <a:r>
              <a:t>Внутрішньо переміщені особи (ВПО)</a:t>
            </a:r>
          </a:p>
          <a:p>
            <a:pPr>
              <a:defRPr sz="2400" b="0">
                <a:solidFill>
                  <a:srgbClr val="C3CCDC"/>
                </a:solidFill>
              </a:defRPr>
            </a:pPr>
            <a:r>
              <a:t>Ветерани/УБД та члени їхніх сімей</a:t>
            </a:r>
          </a:p>
          <a:p>
            <a:pPr>
              <a:defRPr sz="2400" b="0">
                <a:solidFill>
                  <a:srgbClr val="C3CCDC"/>
                </a:solidFill>
              </a:defRPr>
            </a:pPr>
            <a:r>
              <a:t>Особи з інвалідністю</a:t>
            </a:r>
          </a:p>
          <a:p>
            <a:pPr>
              <a:defRPr sz="2400" b="0">
                <a:solidFill>
                  <a:srgbClr val="C3CCDC"/>
                </a:solidFill>
              </a:defRPr>
            </a:pPr>
            <a:r>
              <a:t>Люди віком 60+</a:t>
            </a:r>
          </a:p>
          <a:p>
            <a:pPr>
              <a:defRPr sz="2400" b="0">
                <a:solidFill>
                  <a:srgbClr val="C3CCDC"/>
                </a:solidFill>
              </a:defRPr>
            </a:pPr>
            <a:r>
              <a:t>Сім’ї загиблих / люди з травматичним досвідом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Фокус соціальної роботи у воєнних умовах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Соціальна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Соціальний працівник як “міст” між людиною і системою допомоги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3CCDC"/>
                </a:solidFill>
              </a:defRPr>
            </a:pPr>
            <a:r>
              <a:t>Психосоціальна підтримка та кризове консультування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Навігація по послугах, ресурсне посередництво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Аутріч (вихід до клієнта), робота з недовірою/бар’єрами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Групи підтримки, самодопомога, відновлення соціальних ролей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Координація: держава • НУО • волонтери • медичні сервіси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669280"/>
            <a:ext cx="10789920" cy="685800"/>
          </a:xfrm>
          <a:prstGeom prst="rect">
            <a:avLst/>
          </a:prstGeom>
          <a:solidFill>
            <a:srgbClr val="0C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74243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D1B2"/>
                </a:solidFill>
              </a:rPr>
              <a:t>В умовах війни офлайн-міст часто неможливий → потрібен цифровий формат супроводу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Чому цифровізація — не “мода”, а відповідь на кризу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Цифрові можливості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Цифрові технології відновлюють 2 типи зв’язків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257800" cy="4389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828800"/>
            <a:ext cx="5257800" cy="4389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D1B2"/>
                </a:solidFill>
              </a:rPr>
              <a:t>ГОРИЗОНТАЛЬНІ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C542"/>
                </a:solidFill>
              </a:rPr>
              <a:t>ВЕРТИКАЛЬНІ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3CCDC"/>
                </a:solidFill>
              </a:defRPr>
            </a:pPr>
            <a:r>
              <a:t>Людина ↔ люди (родина, друзі, групи підтримки)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Месенджери/соцмережі/відеозв’язок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Онлайн-спільноти, клуби, групові зустрічі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3CCDC"/>
                </a:solidFill>
              </a:defRPr>
            </a:pPr>
            <a:r>
              <a:t>Людина ↔ інституції (соцпослуги, медицина, документи)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Е-сервіси (Дія), запис/медицина (Helsi)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Інфохаби, чат-боти навігації, телепсихологія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Логіка інструмента: відновити зв’язки і доступ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Переваги та ризики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Сила цифрових рішень — і де тонко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257800" cy="4389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828800"/>
            <a:ext cx="5257800" cy="438912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D1B2"/>
                </a:solidFill>
              </a:rPr>
              <a:t>ПЕРЕВАГИ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C542"/>
                </a:solidFill>
              </a:rPr>
              <a:t>РИЗИКИ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3CCDC"/>
                </a:solidFill>
              </a:defRPr>
            </a:pPr>
            <a:r>
              <a:t>Доступність і масштабованість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Оперативність та безперервність супроводу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Менше стигми (можлива анонімність)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Оптимізація ресурсів служб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3CCDC"/>
                </a:solidFill>
              </a:defRPr>
            </a:pPr>
            <a:r>
              <a:t>Цифровий розрив (доступ/пристрої/навички)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Конфіденційність і безпека даних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Дезінформація, кібербулінг, ретравматизація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Ризик “заміни людини ботом”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669280"/>
            <a:ext cx="10789920" cy="685800"/>
          </a:xfrm>
          <a:prstGeom prst="rect">
            <a:avLst/>
          </a:prstGeom>
          <a:solidFill>
            <a:srgbClr val="0C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742432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1B2"/>
                </a:solidFill>
              </a:rPr>
              <a:t>Найкраще працює гібрид: онлайн-інструменти + живий супровід соціального працівника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Етичний баланс і практична реалізованість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Емпіричне дослідження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09728" cy="5120640"/>
          </a:xfrm>
          <a:prstGeom prst="rect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F7FF"/>
                </a:solidFill>
              </a:rPr>
              <a:t>Дизайн дослідження</a:t>
            </a:r>
          </a:p>
          <a:p>
            <a:pPr>
              <a:spcBef>
                <a:spcPts val="1200"/>
              </a:spcBef>
            </a:pPr>
            <a:r>
              <a:rPr sz="2600">
                <a:solidFill>
                  <a:srgbClr val="C3CCDC"/>
                </a:solidFill>
              </a:rPr>
              <a:t>Змішані методи (2024–2025)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3566160" cy="219456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78892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3108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N=312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Онлайн-опитування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60320"/>
            <a:ext cx="3566160" cy="219456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4840" y="278892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971800"/>
            <a:ext cx="3108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n=24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Напівструктуровані інтерв’ю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560320"/>
            <a:ext cx="4023360" cy="219456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26679" y="278892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971800"/>
            <a:ext cx="35661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4 групи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ВПО • ветерани • інвалідність • 60+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3CCDC"/>
                </a:solidFill>
              </a:defRPr>
            </a:pPr>
            <a:r>
              <a:t>Мета: виявити потреби у цифровій підтримці та перевірити ефективність моделі цифрового супроводу.</a:t>
            </a:r>
          </a:p>
          <a:p>
            <a:pPr>
              <a:defRPr sz="2000" b="0">
                <a:solidFill>
                  <a:srgbClr val="C3CCDC"/>
                </a:solidFill>
              </a:defRPr>
            </a:pPr>
            <a:r>
              <a:t>Вимірювання ізоляції: UCLA Loneliness Scale (адаптація, Додаток Б).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Методологія: дані → модель → перевірка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Результати (до моделі)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Ключові висновки діагностики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4884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72%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Високий рівень відчуження (UCLA) до втручання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214884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28%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Ускладнений доступ через інтернет/стабільність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92024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92440" y="214884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34%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Базові навички у групі 60+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38912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7200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79%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Користуються “Дія”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16052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438912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87%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Комунікація через Viber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160520"/>
            <a:ext cx="3657600" cy="205740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2440" y="438912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72000"/>
            <a:ext cx="32004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36%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Уже в онлайн-групах підтримки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Потреба є, але доступ/навички нерівні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Модель цифрового супроводу клієнтів (системний підхід)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2834640"/>
            <a:ext cx="1828800" cy="1828800"/>
          </a:xfrm>
          <a:prstGeom prst="ellipse">
            <a:avLst/>
          </a:prstGeom>
          <a:solidFill>
            <a:srgbClr val="0C1E2C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32918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F"/>
                </a:solidFill>
              </a:rPr>
              <a:t>КЛІЄНТ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834640" cy="640080"/>
          </a:xfrm>
          <a:prstGeom prst="roundRect">
            <a:avLst/>
          </a:prstGeom>
          <a:solidFill>
            <a:srgbClr val="10182E"/>
          </a:solidFill>
          <a:ln>
            <a:solidFill>
              <a:srgbClr val="00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F"/>
                </a:solidFill>
              </a:rPr>
              <a:t>1 Діагностика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920240"/>
            <a:ext cx="2834640" cy="640080"/>
          </a:xfrm>
          <a:prstGeom prst="roundRect">
            <a:avLst/>
          </a:prstGeom>
          <a:solidFill>
            <a:srgbClr val="10182E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0299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F"/>
                </a:solidFill>
              </a:rPr>
              <a:t>2 Комунікація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2834640" cy="640080"/>
          </a:xfrm>
          <a:prstGeom prst="roundRect">
            <a:avLst/>
          </a:prstGeom>
          <a:solidFill>
            <a:srgbClr val="10182E"/>
          </a:solidFill>
          <a:ln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F"/>
                </a:solidFill>
              </a:rPr>
              <a:t>3 Ресурси/підтримка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572000"/>
            <a:ext cx="2834640" cy="640080"/>
          </a:xfrm>
          <a:prstGeom prst="roundRect">
            <a:avLst/>
          </a:prstGeom>
          <a:solidFill>
            <a:srgbClr val="10182E"/>
          </a:solidFill>
          <a:ln>
            <a:solidFill>
              <a:srgbClr val="00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68172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F"/>
                </a:solidFill>
              </a:rPr>
              <a:t>4 Соцінтеграція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486400"/>
            <a:ext cx="2834640" cy="640080"/>
          </a:xfrm>
          <a:prstGeom prst="roundRect">
            <a:avLst/>
          </a:prstGeom>
          <a:solidFill>
            <a:srgbClr val="10182E"/>
          </a:solidFill>
          <a:ln>
            <a:solidFill>
              <a:srgbClr val="00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559612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F"/>
                </a:solidFill>
              </a:rPr>
              <a:t>5 Моніторинг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3CCDC"/>
                </a:solidFill>
              </a:defRPr>
            </a:pPr>
            <a:r>
              <a:t>Фокус: зменшення ізоляції через комунікацію + доступ до послуг + включення у спільноти.</a:t>
            </a:r>
          </a:p>
          <a:p>
            <a:pPr>
              <a:defRPr sz="1800" b="0">
                <a:solidFill>
                  <a:srgbClr val="C3CCDC"/>
                </a:solidFill>
              </a:defRPr>
            </a:pPr>
            <a:r>
              <a:t>Принципи: клієнтоцентричність • гібридність • етичність • конфіденційність.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Внесок: структурована модель цифрового супроводу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Пілотне впровадження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5F7FF"/>
                </a:solidFill>
              </a:rPr>
              <a:t>Ефективність моделі: пілот (3 місяці, n=32)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3CCDC"/>
                </a:solidFill>
              </a:defRPr>
            </a:pPr>
            <a:r>
              <a:t>Майданчики: ЦНСП Щербанівської громади + ГО реінтеграції ветеранської спільноти (Полтава)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60604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62%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Зниження тривожності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260604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71%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Відчуття стабільної підтримки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3774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260604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7889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59%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Більше регулярних соцконтактів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66344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463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53%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Долучились до онлайн-груп підтримки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4348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0" y="466344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8463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84%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Задоволені супроводом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434840"/>
            <a:ext cx="3657600" cy="192024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92440" y="466344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84632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79%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Готові продовжити участь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55080"/>
            <a:ext cx="10789920" cy="502920"/>
          </a:xfrm>
          <a:prstGeom prst="rect">
            <a:avLst/>
          </a:prstGeom>
          <a:solidFill>
            <a:srgbClr val="0C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41908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D1B2"/>
                </a:solidFill>
              </a:rPr>
              <a:t>Висновок: цифрові технології під керуванням соціального працівника реально зменшують ізоляцію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Дані ефекту: психоемоційно • соціально • доступ до допомоги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Запасний слайд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ТОП-запити клієнтів (опитування)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257800" cy="201168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24028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800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56%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Потрібна проста довідкова платформа: контакти/інструкції/куди звертатись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011680"/>
            <a:ext cx="5257800" cy="201168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224028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800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42%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Потрібна доступна психологічна підтримка (анонімно, швидко)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5257800" cy="201168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4572000"/>
            <a:ext cx="164592" cy="16459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4800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47%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Потрібне навчання: Дія/медицина онлайн/безпека від шахрайства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343400"/>
            <a:ext cx="5257800" cy="201168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4572000"/>
            <a:ext cx="164592" cy="164592"/>
          </a:xfrm>
          <a:prstGeom prst="ellipse">
            <a:avLst/>
          </a:prstGeom>
          <a:solidFill>
            <a:srgbClr val="00D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800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F"/>
                </a:solidFill>
              </a:rPr>
              <a:t>39%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3CCDC"/>
                </a:solidFill>
              </a:rPr>
              <a:t>Менша ізоляція завдяки онлайн-спільнотам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Потреби → основа для дизайну інтервенцій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Запасний слайд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Рекомендації для масштабування (практично)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789920" cy="4480560"/>
          </a:xfrm>
          <a:prstGeom prst="roundRect">
            <a:avLst/>
          </a:prstGeom>
          <a:solidFill>
            <a:srgbClr val="10182E"/>
          </a:solidFill>
          <a:ln>
            <a:solidFill>
              <a:srgbClr val="23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3CCDC"/>
                </a:solidFill>
              </a:defRPr>
            </a:pPr>
            <a:r>
              <a:t>Ввести роль digital navigator (цифровий куратор) у службі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Створювати гібридні хаби: онлайн-супровід + фізична точка доступу/навчання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Протоколи конфіденційності: інформована згода, мінімізація даних, шифрування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Цифрова грамотність для 60+ та людей з інвалідністю + антифрод-практики</a:t>
            </a:r>
          </a:p>
          <a:p>
            <a:pPr>
              <a:defRPr sz="2200" b="0">
                <a:solidFill>
                  <a:srgbClr val="C3CCDC"/>
                </a:solidFill>
              </a:defRPr>
            </a:pPr>
            <a:r>
              <a:t>Супервізія фахівців і регламент ‘не 24/7 онлайн’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27432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87AA"/>
                </a:solidFill>
              </a:rPr>
              <a:t>Що можна впроваджувати вже зараз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7887AA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